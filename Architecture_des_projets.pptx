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3" r:id="rId4"/>
    <p:sldId id="264" r:id="rId5"/>
    <p:sldId id="257" r:id="rId6"/>
    <p:sldId id="258" r:id="rId7"/>
    <p:sldId id="259" r:id="rId8"/>
    <p:sldId id="260" r:id="rId9"/>
    <p:sldId id="271" r:id="rId10"/>
    <p:sldId id="261" r:id="rId11"/>
    <p:sldId id="265" r:id="rId12"/>
    <p:sldId id="274" r:id="rId13"/>
    <p:sldId id="275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805430" y="942340"/>
            <a:ext cx="65811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fr-FR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RAPPORT DE PROJET EN PREMIERE ANNEE DE MASTER PROFESSIONNEL</a:t>
            </a:r>
            <a:endParaRPr lang="fr-FR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1080770" y="2488565"/>
            <a:ext cx="10030460" cy="174879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fr-FR" altLang="en-US" sz="2800"/>
              <a:t>SYSTÈME INTELLIGENT DE SURVEILLANCE IoT BASÉ SUR L’IA POUR LA DÉTECTION D’ANOMALIES ET LA CYBERSÉCURITÉ DES OBJETS CONNECTÉ.</a:t>
            </a:r>
            <a:endParaRPr lang="fr-FR" altLang="en-US" sz="2800"/>
          </a:p>
        </p:txBody>
      </p:sp>
      <p:sp>
        <p:nvSpPr>
          <p:cNvPr id="7" name="Text Box 6"/>
          <p:cNvSpPr txBox="1"/>
          <p:nvPr/>
        </p:nvSpPr>
        <p:spPr>
          <a:xfrm>
            <a:off x="1740535" y="235585"/>
            <a:ext cx="87109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fr-FR" altLang="en-US" sz="2000" b="1"/>
              <a:t>UNIVERSITE DE FIANARANTSOA</a:t>
            </a:r>
            <a:endParaRPr lang="fr-FR" altLang="en-US" sz="2000" b="1"/>
          </a:p>
          <a:p>
            <a:pPr algn="ctr"/>
            <a:r>
              <a:rPr lang="fr-FR" altLang="en-US" sz="2000" b="1"/>
              <a:t>ECOLE NATIONALE D’INFORMATIQUE</a:t>
            </a:r>
            <a:endParaRPr lang="fr-FR" altLang="en-US" sz="2000" b="1"/>
          </a:p>
        </p:txBody>
      </p:sp>
      <p:sp>
        <p:nvSpPr>
          <p:cNvPr id="8" name="Text Box 7"/>
          <p:cNvSpPr txBox="1"/>
          <p:nvPr/>
        </p:nvSpPr>
        <p:spPr>
          <a:xfrm>
            <a:off x="4652010" y="1869440"/>
            <a:ext cx="32334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fr-FR" altLang="en-US" sz="2000"/>
              <a:t>Intitulé :</a:t>
            </a:r>
            <a:endParaRPr lang="fr-FR" altLang="en-US" sz="2000"/>
          </a:p>
        </p:txBody>
      </p:sp>
      <p:sp>
        <p:nvSpPr>
          <p:cNvPr id="9" name="Text Box 8"/>
          <p:cNvSpPr txBox="1"/>
          <p:nvPr/>
        </p:nvSpPr>
        <p:spPr>
          <a:xfrm>
            <a:off x="1080770" y="4344035"/>
            <a:ext cx="680466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b="1"/>
              <a:t>Présenté par :</a:t>
            </a:r>
            <a:endParaRPr lang="fr-FR" altLang="en-US"/>
          </a:p>
          <a:p>
            <a:pPr lvl="1">
              <a:lnSpc>
                <a:spcPct val="150000"/>
              </a:lnSpc>
            </a:pPr>
            <a:r>
              <a:rPr lang="fr-FR" altLang="en-US"/>
              <a:t>305 H-TOL ANDRIATSITOHAINA Faly Jean Antonio Downavan</a:t>
            </a:r>
            <a:endParaRPr lang="fr-FR" altLang="en-US"/>
          </a:p>
          <a:p>
            <a:pPr lvl="1">
              <a:lnSpc>
                <a:spcPct val="150000"/>
              </a:lnSpc>
            </a:pPr>
            <a:r>
              <a:rPr lang="fr-FR" altLang="en-US"/>
              <a:t>409 H-TOL RANDRIAMBOLOLONA Manitriniaina Louis Josilde</a:t>
            </a:r>
            <a:endParaRPr lang="fr-FR" altLang="en-US"/>
          </a:p>
          <a:p>
            <a:pPr lvl="0">
              <a:lnSpc>
                <a:spcPct val="150000"/>
              </a:lnSpc>
            </a:pPr>
            <a:r>
              <a:rPr lang="fr-FR" altLang="en-US" b="1"/>
              <a:t>Encadreur :</a:t>
            </a:r>
            <a:endParaRPr lang="fr-FR" altLang="en-US" b="1"/>
          </a:p>
          <a:p>
            <a:pPr lvl="1">
              <a:lnSpc>
                <a:spcPct val="150000"/>
              </a:lnSpc>
            </a:pPr>
            <a:r>
              <a:rPr lang="fr-FR" altLang="en-US"/>
              <a:t>Mr ZILGA Randria</a:t>
            </a:r>
            <a:endParaRPr lang="fr-FR" altLang="en-US"/>
          </a:p>
        </p:txBody>
      </p:sp>
      <p:sp>
        <p:nvSpPr>
          <p:cNvPr id="10" name="Text Box 9"/>
          <p:cNvSpPr txBox="1"/>
          <p:nvPr/>
        </p:nvSpPr>
        <p:spPr>
          <a:xfrm>
            <a:off x="7242175" y="6026785"/>
            <a:ext cx="3869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b="1"/>
              <a:t>Année Universitaire :</a:t>
            </a:r>
            <a:r>
              <a:rPr lang="fr-FR" altLang="en-US"/>
              <a:t> 2024 - 2025</a:t>
            </a:r>
            <a:endParaRPr lang="fr-FR" altLang="en-US"/>
          </a:p>
        </p:txBody>
      </p:sp>
      <p:pic>
        <p:nvPicPr>
          <p:cNvPr id="11" name="Picture 10" descr="logoEN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7945" y="173990"/>
            <a:ext cx="1695450" cy="1695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675640" y="433705"/>
            <a:ext cx="54298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/>
              <a:t>CONTEXTE GÉNÉRALE ET PROBLÉMATIQUE</a:t>
            </a:r>
            <a:endParaRPr lang="fr-FR" altLang="en-US" sz="2000" b="1"/>
          </a:p>
        </p:txBody>
      </p:sp>
      <p:sp>
        <p:nvSpPr>
          <p:cNvPr id="5" name="Text Box 4"/>
          <p:cNvSpPr txBox="1"/>
          <p:nvPr/>
        </p:nvSpPr>
        <p:spPr>
          <a:xfrm>
            <a:off x="1127760" y="1214120"/>
            <a:ext cx="939609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200000"/>
              </a:lnSpc>
            </a:pPr>
            <a:r>
              <a:rPr lang="fr-FR" altLang="en-US" b="1">
                <a:solidFill>
                  <a:schemeClr val="accent2">
                    <a:lumMod val="75000"/>
                  </a:schemeClr>
                </a:solidFill>
              </a:rPr>
              <a:t>CONTEXTE :</a:t>
            </a:r>
            <a:br>
              <a:rPr lang="fr-FR" altLang="en-US"/>
            </a:br>
            <a:r>
              <a:rPr lang="fr-FR" altLang="en-US"/>
              <a:t>L’essor de l’Internet des Objets (IoT) favorise la collecte et l’échange de données entre objets connectés. Cependant, cette interconnexion expose les systèmes à des risques d’intrusion, de perte de données et de cyberattaques.</a:t>
            </a:r>
            <a:br>
              <a:rPr lang="fr-FR" altLang="en-US"/>
            </a:br>
            <a:br>
              <a:rPr lang="fr-FR" altLang="en-US"/>
            </a:br>
            <a:r>
              <a:rPr lang="fr-FR" altLang="en-US" b="1">
                <a:solidFill>
                  <a:schemeClr val="accent2">
                    <a:lumMod val="75000"/>
                  </a:schemeClr>
                </a:solidFill>
              </a:rPr>
              <a:t>PROBLÉMATIQUE :</a:t>
            </a:r>
            <a:endParaRPr lang="fr-FR" altLang="en-US"/>
          </a:p>
          <a:p>
            <a:pPr>
              <a:lnSpc>
                <a:spcPct val="200000"/>
              </a:lnSpc>
            </a:pPr>
            <a:r>
              <a:rPr lang="fr-FR" altLang="en-US"/>
              <a:t>Comment concevoir une architecture IoT intelligente et sécurisée assurant la collecte fiable, le stockage, l’analyse et la protection des données tout en détectant les intrusions et anomalies en temps réel?</a:t>
            </a:r>
            <a:endParaRPr lang="fr-F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675640" y="433705"/>
            <a:ext cx="54298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/>
              <a:t>OBJECTIFS DU PROJET</a:t>
            </a:r>
            <a:endParaRPr lang="fr-FR" altLang="en-US" sz="2000" b="1"/>
          </a:p>
        </p:txBody>
      </p:sp>
      <p:sp>
        <p:nvSpPr>
          <p:cNvPr id="5" name="Text Box 4"/>
          <p:cNvSpPr txBox="1"/>
          <p:nvPr/>
        </p:nvSpPr>
        <p:spPr>
          <a:xfrm>
            <a:off x="1211580" y="1214120"/>
            <a:ext cx="934656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fr-FR" altLang="en-US" b="1">
                <a:solidFill>
                  <a:schemeClr val="accent2">
                    <a:lumMod val="75000"/>
                  </a:schemeClr>
                </a:solidFill>
              </a:rPr>
              <a:t>OBJECTIF GÉNÉRAL : </a:t>
            </a:r>
            <a:endParaRPr lang="fr-FR" altLang="en-US" b="1">
              <a:solidFill>
                <a:schemeClr val="accent2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fr-FR" altLang="en-US"/>
              <a:t>Développer une plateforme IoT intelligente et sécurisée intégrant des capteurs ESP32, un serveur MQTT, des bases de données (influxDB, PostgreSQL), une application web, un IDS et un un modèle d’IA.</a:t>
            </a:r>
            <a:endParaRPr lang="fr-FR" altLang="en-US"/>
          </a:p>
          <a:p>
            <a:pPr>
              <a:lnSpc>
                <a:spcPct val="150000"/>
              </a:lnSpc>
            </a:pPr>
            <a:endParaRPr lang="fr-FR" altLang="en-US"/>
          </a:p>
          <a:p>
            <a:pPr>
              <a:lnSpc>
                <a:spcPct val="150000"/>
              </a:lnSpc>
            </a:pPr>
            <a:r>
              <a:rPr lang="fr-FR" altLang="en-US" b="1">
                <a:solidFill>
                  <a:schemeClr val="accent2">
                    <a:lumMod val="75000"/>
                  </a:schemeClr>
                </a:solidFill>
              </a:rPr>
              <a:t>OBJECTIFS SPÉCIFIQUES :</a:t>
            </a:r>
            <a:endParaRPr lang="fr-FR" altLang="en-US" b="1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en-US"/>
              <a:t>Concevoir deux noeuds IoT (ESP32 + Capteurs/Actionneurs);</a:t>
            </a:r>
            <a:endParaRPr lang="fr-FR" altLang="en-US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en-US"/>
              <a:t>Configurer le serveur MQTT et les bases de données;</a:t>
            </a:r>
            <a:endParaRPr lang="fr-FR" altLang="en-US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en-US"/>
              <a:t>Créer une interface web de supervision;</a:t>
            </a:r>
            <a:endParaRPr lang="fr-FR" altLang="en-US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en-US"/>
              <a:t>Mettre en place un IDS pour la détection d’intrusions;</a:t>
            </a:r>
            <a:endParaRPr lang="fr-FR" altLang="en-US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en-US"/>
              <a:t>Intégrer un module IA pour la détection d’anomalies;</a:t>
            </a:r>
            <a:endParaRPr lang="fr-FR" altLang="en-US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en-US"/>
              <a:t>Sécuriser la communication (TLS + HTTPS)</a:t>
            </a:r>
            <a:endParaRPr lang="fr-F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675640" y="433705"/>
            <a:ext cx="51454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/>
              <a:t>ARCHITECTURE GLOBALE DU PROJET IoT</a:t>
            </a:r>
            <a:endParaRPr lang="fr-FR" altLang="en-US" sz="2000" b="1"/>
          </a:p>
        </p:txBody>
      </p:sp>
      <p:sp>
        <p:nvSpPr>
          <p:cNvPr id="5" name="Rectangles 4"/>
          <p:cNvSpPr/>
          <p:nvPr/>
        </p:nvSpPr>
        <p:spPr>
          <a:xfrm>
            <a:off x="857250" y="1109980"/>
            <a:ext cx="2887345" cy="1007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fr-FR" altLang="en-US"/>
              <a:t>ESP32_1 : DHT22, LDR, LESs (Rouge et Verte), Buzzer</a:t>
            </a:r>
            <a:endParaRPr lang="fr-FR" altLang="en-US"/>
          </a:p>
        </p:txBody>
      </p:sp>
      <p:sp>
        <p:nvSpPr>
          <p:cNvPr id="6" name="Rectangles 5"/>
          <p:cNvSpPr/>
          <p:nvPr/>
        </p:nvSpPr>
        <p:spPr>
          <a:xfrm>
            <a:off x="4652010" y="1109980"/>
            <a:ext cx="2755265" cy="1007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fr-FR" altLang="en-US"/>
              <a:t>ESP32_2 : Ultrason, PIR, RFID, Servomoteur, LEDs (Rouge et Verte)</a:t>
            </a:r>
            <a:endParaRPr lang="fr-FR" altLang="en-US"/>
          </a:p>
        </p:txBody>
      </p:sp>
      <p:sp>
        <p:nvSpPr>
          <p:cNvPr id="7" name="Rectangles 6"/>
          <p:cNvSpPr/>
          <p:nvPr/>
        </p:nvSpPr>
        <p:spPr>
          <a:xfrm>
            <a:off x="857885" y="2710180"/>
            <a:ext cx="2886075" cy="61277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fr-FR" altLang="en-US"/>
              <a:t>MQTT Broker (Mosquitto)</a:t>
            </a:r>
            <a:endParaRPr lang="fr-FR" altLang="en-US"/>
          </a:p>
        </p:txBody>
      </p:sp>
      <p:sp>
        <p:nvSpPr>
          <p:cNvPr id="8" name="Rectangles 7"/>
          <p:cNvSpPr/>
          <p:nvPr/>
        </p:nvSpPr>
        <p:spPr>
          <a:xfrm>
            <a:off x="857250" y="3733800"/>
            <a:ext cx="2886710" cy="78422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fr-FR" altLang="en-US"/>
              <a:t>InfluxDB / PostgreSQL</a:t>
            </a:r>
            <a:endParaRPr lang="fr-FR" altLang="en-US"/>
          </a:p>
        </p:txBody>
      </p:sp>
      <p:sp>
        <p:nvSpPr>
          <p:cNvPr id="9" name="Rectangles 8"/>
          <p:cNvSpPr/>
          <p:nvPr/>
        </p:nvSpPr>
        <p:spPr>
          <a:xfrm>
            <a:off x="4569460" y="3683635"/>
            <a:ext cx="2837815" cy="82423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fr-FR" altLang="en-US"/>
              <a:t>Flask / FastAPI (pour IA/ML</a:t>
            </a:r>
            <a:endParaRPr lang="fr-FR" altLang="en-US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1303020" y="2215515"/>
            <a:ext cx="0" cy="4127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021070" y="2215515"/>
            <a:ext cx="0" cy="3962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1665605" y="3370580"/>
            <a:ext cx="0" cy="28003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5278755" y="3354070"/>
            <a:ext cx="0" cy="31305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" name="Rectangles 13"/>
          <p:cNvSpPr/>
          <p:nvPr/>
        </p:nvSpPr>
        <p:spPr>
          <a:xfrm>
            <a:off x="873760" y="5358765"/>
            <a:ext cx="6533515" cy="12865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fr-FR" altLang="en-US"/>
              <a:t>Application Web :</a:t>
            </a:r>
            <a:endParaRPr lang="fr-FR" altLang="en-US"/>
          </a:p>
          <a:p>
            <a:pPr algn="ctr"/>
            <a:r>
              <a:rPr lang="fr-FR" altLang="en-US"/>
              <a:t>Tableau de bord, Alertes, Monitoring</a:t>
            </a:r>
            <a:endParaRPr lang="fr-FR" altLang="en-US"/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1814195" y="4904740"/>
            <a:ext cx="4256405" cy="1651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3991610" y="5020310"/>
            <a:ext cx="16510" cy="263525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814195" y="4673600"/>
            <a:ext cx="0" cy="1816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6021070" y="4690110"/>
            <a:ext cx="0" cy="1816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ight Brace 18"/>
          <p:cNvSpPr/>
          <p:nvPr/>
        </p:nvSpPr>
        <p:spPr>
          <a:xfrm>
            <a:off x="7670800" y="994410"/>
            <a:ext cx="627380" cy="130365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Rectangles 19"/>
          <p:cNvSpPr/>
          <p:nvPr/>
        </p:nvSpPr>
        <p:spPr>
          <a:xfrm>
            <a:off x="8693785" y="1109980"/>
            <a:ext cx="2557145" cy="1072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fr-FR" altLang="en-US"/>
              <a:t>COUCHE PHYSIQUE (Partie IoT)</a:t>
            </a:r>
            <a:endParaRPr lang="fr-FR" altLang="en-US"/>
          </a:p>
        </p:txBody>
      </p:sp>
      <p:sp>
        <p:nvSpPr>
          <p:cNvPr id="21" name="Right Brace 20"/>
          <p:cNvSpPr/>
          <p:nvPr/>
        </p:nvSpPr>
        <p:spPr>
          <a:xfrm>
            <a:off x="7712075" y="2545715"/>
            <a:ext cx="544830" cy="2308860"/>
          </a:xfrm>
          <a:prstGeom prst="righ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Rectangles 21"/>
          <p:cNvSpPr/>
          <p:nvPr/>
        </p:nvSpPr>
        <p:spPr>
          <a:xfrm>
            <a:off x="8644255" y="3106420"/>
            <a:ext cx="2606675" cy="118808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fr-FR" altLang="en-US"/>
              <a:t>COUCHE SERVEUR / PASSERELLE (Ordinateur Physique)</a:t>
            </a:r>
            <a:endParaRPr lang="fr-FR" altLang="en-US"/>
          </a:p>
        </p:txBody>
      </p:sp>
      <p:sp>
        <p:nvSpPr>
          <p:cNvPr id="23" name="Rectangles 22"/>
          <p:cNvSpPr/>
          <p:nvPr/>
        </p:nvSpPr>
        <p:spPr>
          <a:xfrm>
            <a:off x="8644255" y="5218430"/>
            <a:ext cx="2606675" cy="11874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fr-FR" altLang="en-US"/>
              <a:t>COUCHE UTILISATEUR / ADMIN</a:t>
            </a:r>
            <a:endParaRPr lang="fr-FR" altLang="en-US"/>
          </a:p>
        </p:txBody>
      </p:sp>
      <p:sp>
        <p:nvSpPr>
          <p:cNvPr id="24" name="Right Brace 23"/>
          <p:cNvSpPr/>
          <p:nvPr/>
        </p:nvSpPr>
        <p:spPr>
          <a:xfrm>
            <a:off x="7720330" y="4920615"/>
            <a:ext cx="626745" cy="1798955"/>
          </a:xfrm>
          <a:prstGeom prst="righ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2742565" y="2245360"/>
            <a:ext cx="19215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1600">
                <a:solidFill>
                  <a:srgbClr val="FF0000"/>
                </a:solidFill>
              </a:rPr>
              <a:t>protocol MQTT TLS</a:t>
            </a:r>
            <a:endParaRPr lang="fr-FR" altLang="en-US" sz="1600">
              <a:solidFill>
                <a:srgbClr val="FF0000"/>
              </a:solidFill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4866005" y="2347595"/>
            <a:ext cx="973455" cy="16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 flipV="1">
            <a:off x="1434465" y="2380615"/>
            <a:ext cx="1039495" cy="16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Box 28"/>
          <p:cNvSpPr txBox="1"/>
          <p:nvPr/>
        </p:nvSpPr>
        <p:spPr>
          <a:xfrm>
            <a:off x="2621915" y="4954905"/>
            <a:ext cx="8750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1600">
                <a:solidFill>
                  <a:srgbClr val="FF0000"/>
                </a:solidFill>
              </a:rPr>
              <a:t>HTTPS</a:t>
            </a:r>
            <a:endParaRPr lang="fr-FR" altLang="en-US" sz="1600">
              <a:solidFill>
                <a:srgbClr val="FF0000"/>
              </a:solidFill>
            </a:endParaRPr>
          </a:p>
        </p:txBody>
      </p:sp>
      <p:sp>
        <p:nvSpPr>
          <p:cNvPr id="30" name="Text Box 29"/>
          <p:cNvSpPr txBox="1"/>
          <p:nvPr/>
        </p:nvSpPr>
        <p:spPr>
          <a:xfrm>
            <a:off x="4437380" y="4954270"/>
            <a:ext cx="16910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1600">
                <a:solidFill>
                  <a:srgbClr val="FF0000"/>
                </a:solidFill>
              </a:rPr>
              <a:t>Authentification</a:t>
            </a:r>
            <a:endParaRPr lang="fr-FR" altLang="en-US" sz="1600">
              <a:solidFill>
                <a:srgbClr val="FF0000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4569460" y="2724785"/>
            <a:ext cx="2837180" cy="61277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fr-FR" altLang="en-US"/>
              <a:t>Node-RED (pipeline)</a:t>
            </a:r>
            <a:endParaRPr lang="fr-FR" altLang="en-US"/>
          </a:p>
        </p:txBody>
      </p:sp>
      <p:sp>
        <p:nvSpPr>
          <p:cNvPr id="32" name="Text Box 31"/>
          <p:cNvSpPr txBox="1"/>
          <p:nvPr/>
        </p:nvSpPr>
        <p:spPr>
          <a:xfrm>
            <a:off x="2374900" y="4596130"/>
            <a:ext cx="30854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1200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Mettre IDS (Intrusion Detection System</a:t>
            </a:r>
            <a:endParaRPr lang="fr-FR" altLang="en-US" sz="1200" b="1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675640" y="433705"/>
            <a:ext cx="28530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/>
              <a:t>DIAGRAMME DES FLUX</a:t>
            </a:r>
            <a:endParaRPr lang="fr-FR" altLang="en-US" sz="2000" b="1"/>
          </a:p>
        </p:txBody>
      </p:sp>
      <p:sp>
        <p:nvSpPr>
          <p:cNvPr id="6" name="Flowchart: Alternate Process 5"/>
          <p:cNvSpPr/>
          <p:nvPr/>
        </p:nvSpPr>
        <p:spPr>
          <a:xfrm>
            <a:off x="741680" y="1292860"/>
            <a:ext cx="5114290" cy="2045970"/>
          </a:xfrm>
          <a:prstGeom prst="flowChartAlternateProcess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r>
              <a:rPr lang="fr-FR" altLang="en-US" b="1"/>
              <a:t>1- Capteurs / ESP32 :</a:t>
            </a:r>
            <a:endParaRPr lang="fr-FR" altLang="en-US" b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altLang="en-US"/>
              <a:t>ESP32_1 : DHT22, LDR, LEDs(Rouge/Verte), Buzzer</a:t>
            </a:r>
            <a:endParaRPr lang="fr-FR" alt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altLang="en-US"/>
              <a:t>ESP32_2 : Ultrason, PIR, RFID, Servomoteur, LEDs(Rouge/Verte)</a:t>
            </a:r>
            <a:endParaRPr lang="fr-FR" alt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altLang="en-US"/>
              <a:t>Toutes communications sont sécurisées via TLS</a:t>
            </a:r>
            <a:endParaRPr lang="fr-FR" altLang="en-US"/>
          </a:p>
        </p:txBody>
      </p:sp>
      <p:sp>
        <p:nvSpPr>
          <p:cNvPr id="7" name="Flowchart: Alternate Process 6"/>
          <p:cNvSpPr/>
          <p:nvPr/>
        </p:nvSpPr>
        <p:spPr>
          <a:xfrm>
            <a:off x="6169660" y="1290955"/>
            <a:ext cx="5097780" cy="2047875"/>
          </a:xfrm>
          <a:prstGeom prst="flowChartAlternateProcess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just"/>
            <a:r>
              <a:rPr lang="fr-FR" altLang="en-US" b="1"/>
              <a:t>2- MQTT Broker (Mosquitto) :</a:t>
            </a:r>
            <a:endParaRPr lang="fr-FR" altLang="en-US" b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altLang="en-US"/>
              <a:t>Reçoit les données des ESP32</a:t>
            </a:r>
            <a:endParaRPr lang="fr-FR" alt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altLang="en-US"/>
              <a:t>Applique des ACLs et Authentification (mot de passe)</a:t>
            </a:r>
            <a:endParaRPr lang="fr-FR" alt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altLang="en-US"/>
              <a:t>Peut publier les alertes vers l’application web</a:t>
            </a:r>
            <a:endParaRPr lang="fr-FR" altLang="en-US"/>
          </a:p>
        </p:txBody>
      </p:sp>
      <p:sp>
        <p:nvSpPr>
          <p:cNvPr id="8" name="Flowchart: Alternate Process 7"/>
          <p:cNvSpPr/>
          <p:nvPr/>
        </p:nvSpPr>
        <p:spPr>
          <a:xfrm>
            <a:off x="741045" y="3799205"/>
            <a:ext cx="5114925" cy="2095500"/>
          </a:xfrm>
          <a:prstGeom prst="flowChartAlternateProcess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just"/>
            <a:r>
              <a:rPr lang="fr-FR" altLang="en-US" b="1"/>
              <a:t>3- Stockage des données :</a:t>
            </a:r>
            <a:endParaRPr lang="fr-FR" altLang="en-US" b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altLang="en-US"/>
              <a:t>InfluxDB : stockage en temps réel des mésures des capteurs</a:t>
            </a:r>
            <a:endParaRPr lang="fr-FR" alt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altLang="en-US"/>
              <a:t>PostgreSQL : stockage des données plus structurées (logs, historique des alertes, utilisateurs, configuration des dispositifs)</a:t>
            </a:r>
            <a:endParaRPr lang="fr-FR" altLang="en-US"/>
          </a:p>
        </p:txBody>
      </p:sp>
      <p:sp>
        <p:nvSpPr>
          <p:cNvPr id="9" name="Flowchart: Alternate Process 8"/>
          <p:cNvSpPr/>
          <p:nvPr/>
        </p:nvSpPr>
        <p:spPr>
          <a:xfrm>
            <a:off x="6186170" y="3799205"/>
            <a:ext cx="5081905" cy="2243455"/>
          </a:xfrm>
          <a:prstGeom prst="flowChartAlternateProcess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just"/>
            <a:r>
              <a:rPr lang="fr-FR" altLang="en-US" b="1"/>
              <a:t>4- Application Web Personnalisé :</a:t>
            </a:r>
            <a:endParaRPr lang="fr-FR" altLang="en-US" b="1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altLang="en-US"/>
              <a:t>Visualise le tableau de bord (données en temps réel, graphiques, historiques)</a:t>
            </a:r>
            <a:endParaRPr lang="fr-FR" alt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altLang="en-US"/>
              <a:t>Reçoit et affiche les alertes générées automatiquement</a:t>
            </a:r>
            <a:endParaRPr lang="fr-FR" alt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altLang="en-US"/>
              <a:t>Permet de monitorer et commander les composants IoT (LEDs, buzzer, Servomoteur)</a:t>
            </a:r>
            <a:endParaRPr lang="fr-F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675640" y="433705"/>
            <a:ext cx="28530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/>
              <a:t>SÉCURITÉ DU PROJET</a:t>
            </a:r>
            <a:endParaRPr lang="fr-FR" altLang="en-US" sz="2000" b="1"/>
          </a:p>
        </p:txBody>
      </p:sp>
      <p:sp>
        <p:nvSpPr>
          <p:cNvPr id="5" name="Text Box 4"/>
          <p:cNvSpPr txBox="1"/>
          <p:nvPr/>
        </p:nvSpPr>
        <p:spPr>
          <a:xfrm>
            <a:off x="1500505" y="1275080"/>
            <a:ext cx="919035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fr-FR" altLang="en-US" b="1">
                <a:solidFill>
                  <a:schemeClr val="accent2">
                    <a:lumMod val="75000"/>
                  </a:schemeClr>
                </a:solidFill>
              </a:rPr>
              <a:t>TLS / HTTPS :</a:t>
            </a:r>
            <a:r>
              <a:rPr lang="fr-FR" altLang="en-US"/>
              <a:t> chiffrement des communications entre ESP32 ---&gt; MQTT et serveur web ---&gt; client web</a:t>
            </a:r>
            <a:endParaRPr lang="fr-FR" altLang="en-US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fr-FR" altLang="en-US" b="1">
                <a:solidFill>
                  <a:schemeClr val="accent2">
                    <a:lumMod val="75000"/>
                  </a:schemeClr>
                </a:solidFill>
              </a:rPr>
              <a:t>Authentification MQTT :</a:t>
            </a:r>
            <a:r>
              <a:rPr lang="fr-FR" altLang="en-US"/>
              <a:t> mot de passe et ACLs pour limiter l’accès aux topics</a:t>
            </a:r>
            <a:endParaRPr lang="fr-FR" altLang="en-US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fr-FR" altLang="en-US" b="1">
                <a:solidFill>
                  <a:schemeClr val="accent2">
                    <a:lumMod val="75000"/>
                  </a:schemeClr>
                </a:solidFill>
              </a:rPr>
              <a:t>IDS :</a:t>
            </a:r>
            <a:r>
              <a:rPr lang="fr-FR" altLang="en-US"/>
              <a:t> surveille le serveur pour détecter les intrusions ou comportements suspectes (exemple : trafic MQTT anormal)</a:t>
            </a:r>
            <a:endParaRPr lang="fr-FR" altLang="en-US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fr-FR" altLang="en-US" b="1">
                <a:solidFill>
                  <a:schemeClr val="accent2">
                    <a:lumMod val="75000"/>
                  </a:schemeClr>
                </a:solidFill>
              </a:rPr>
              <a:t>Sécurisation du backend :</a:t>
            </a:r>
            <a:r>
              <a:rPr lang="fr-FR" altLang="en-US"/>
              <a:t> mot de passe de base de données, utilisateurs PostgreSQL.</a:t>
            </a:r>
            <a:endParaRPr lang="fr-F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675640" y="433705"/>
            <a:ext cx="63665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/>
              <a:t>DÉTECTION AUTOMATIQUE DES ANOMALIES (IA/ML)</a:t>
            </a:r>
            <a:endParaRPr lang="fr-FR" altLang="en-US" sz="2000" b="1"/>
          </a:p>
        </p:txBody>
      </p:sp>
      <p:sp>
        <p:nvSpPr>
          <p:cNvPr id="5" name="Text Box 4"/>
          <p:cNvSpPr txBox="1"/>
          <p:nvPr/>
        </p:nvSpPr>
        <p:spPr>
          <a:xfrm>
            <a:off x="791210" y="1192530"/>
            <a:ext cx="1008062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fr-FR" altLang="en-US" b="1">
                <a:solidFill>
                  <a:schemeClr val="accent2">
                    <a:lumMod val="75000"/>
                  </a:schemeClr>
                </a:solidFill>
              </a:rPr>
              <a:t>1- Machine Learning (ML) :</a:t>
            </a:r>
            <a:endParaRPr lang="fr-FR" altLang="en-US" b="1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en-US"/>
              <a:t>Modèle Supervisé ou non supervisé pour détecter :</a:t>
            </a:r>
            <a:endParaRPr lang="fr-FR" altLang="en-US"/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fr-FR" altLang="en-US"/>
              <a:t>Valeurs hors seuil (Température, Humidité, Luminiosité, etc.)</a:t>
            </a:r>
            <a:endParaRPr lang="fr-FR" altLang="en-US"/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fr-FR" altLang="en-US"/>
              <a:t>Activité réseau anormale</a:t>
            </a:r>
            <a:endParaRPr lang="fr-FR" altLang="en-US"/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lang="fr-FR" altLang="en-US"/>
              <a:t>Intrusions on commandes suspectes</a:t>
            </a:r>
            <a:endParaRPr lang="fr-FR" altLang="en-US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en-US"/>
              <a:t>Peut être entrainé sur les données historiques d’influxDB et PostgreSQL</a:t>
            </a:r>
            <a:endParaRPr lang="fr-FR" altLang="en-US"/>
          </a:p>
          <a:p>
            <a:pPr>
              <a:lnSpc>
                <a:spcPct val="150000"/>
              </a:lnSpc>
            </a:pPr>
            <a:endParaRPr lang="fr-FR" altLang="en-US"/>
          </a:p>
          <a:p>
            <a:pPr>
              <a:lnSpc>
                <a:spcPct val="150000"/>
              </a:lnSpc>
            </a:pPr>
            <a:r>
              <a:rPr lang="fr-FR" altLang="en-US" b="1">
                <a:solidFill>
                  <a:schemeClr val="accent2">
                    <a:lumMod val="75000"/>
                  </a:schemeClr>
                </a:solidFill>
              </a:rPr>
              <a:t>2- Intégration dans le flux :</a:t>
            </a:r>
            <a:endParaRPr lang="fr-FR" altLang="en-US" b="1">
              <a:solidFill>
                <a:schemeClr val="accent2">
                  <a:lumMod val="75000"/>
                </a:schemeClr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en-US"/>
              <a:t>Les données du Broker MQTT sont analysées en temps réel par le script python avec ML</a:t>
            </a:r>
            <a:endParaRPr lang="fr-FR" altLang="en-US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altLang="en-US"/>
              <a:t>Les anomalies détectées déclenchent : </a:t>
            </a:r>
            <a:endParaRPr lang="fr-FR" altLang="en-US"/>
          </a:p>
          <a:p>
            <a:pPr marL="1257300" lvl="2" indent="-342900">
              <a:lnSpc>
                <a:spcPct val="150000"/>
              </a:lnSpc>
              <a:buAutoNum type="arabicPeriod"/>
            </a:pPr>
            <a:r>
              <a:rPr lang="fr-FR" altLang="en-US"/>
              <a:t>Alertes dans l’application Web</a:t>
            </a:r>
            <a:endParaRPr lang="fr-FR" altLang="en-US"/>
          </a:p>
          <a:p>
            <a:pPr marL="1257300" lvl="2" indent="-342900">
              <a:lnSpc>
                <a:spcPct val="150000"/>
              </a:lnSpc>
              <a:buAutoNum type="arabicPeriod"/>
            </a:pPr>
            <a:r>
              <a:rPr lang="fr-FR" altLang="en-US"/>
              <a:t>Notifications (Telegram, SMS, email)</a:t>
            </a:r>
            <a:endParaRPr lang="fr-F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675640" y="433705"/>
            <a:ext cx="63665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/>
              <a:t>TECHNOLOGIES ET OUTILS UTILISÉS</a:t>
            </a:r>
            <a:endParaRPr lang="fr-FR" altLang="en-US" sz="2000" b="1"/>
          </a:p>
        </p:txBody>
      </p:sp>
      <p:sp>
        <p:nvSpPr>
          <p:cNvPr id="5" name="Flowchart: Alternate Process 4"/>
          <p:cNvSpPr/>
          <p:nvPr/>
        </p:nvSpPr>
        <p:spPr>
          <a:xfrm>
            <a:off x="675640" y="961390"/>
            <a:ext cx="5066665" cy="1238250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just"/>
            <a:r>
              <a:rPr lang="fr-FR" altLang="en-US"/>
              <a:t>Côté objets connectés (IoT) : </a:t>
            </a:r>
            <a:endParaRPr lang="fr-FR" altLang="en-US"/>
          </a:p>
          <a:p>
            <a:pPr algn="just"/>
            <a:r>
              <a:rPr lang="fr-FR" altLang="en-US"/>
              <a:t>ESP32 : Microcontrôleur Wi-Fi utilisé </a:t>
            </a:r>
            <a:endParaRPr lang="fr-FR" altLang="en-US"/>
          </a:p>
          <a:p>
            <a:pPr algn="just"/>
            <a:r>
              <a:rPr lang="fr-FR" altLang="en-US"/>
              <a:t>Capteurs &amp; Actionneurs : DHT22, LDR, PIR, Ultrason, RFID, LEDs, Servomoteur, Buzzer</a:t>
            </a:r>
            <a:endParaRPr lang="fr-FR" altLang="en-US"/>
          </a:p>
        </p:txBody>
      </p:sp>
      <p:sp>
        <p:nvSpPr>
          <p:cNvPr id="6" name="Flowchart: Alternate Process 5"/>
          <p:cNvSpPr/>
          <p:nvPr/>
        </p:nvSpPr>
        <p:spPr>
          <a:xfrm>
            <a:off x="676275" y="2466340"/>
            <a:ext cx="5074920" cy="1171575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just"/>
            <a:r>
              <a:rPr lang="fr-FR" altLang="en-US"/>
              <a:t>Communication &amp; Sécurité :</a:t>
            </a:r>
            <a:endParaRPr lang="fr-FR" altLang="en-US"/>
          </a:p>
          <a:p>
            <a:pPr algn="just"/>
            <a:r>
              <a:rPr lang="fr-FR" altLang="en-US"/>
              <a:t>MQTT (Mosquitto) : Protocole léger ;</a:t>
            </a:r>
            <a:endParaRPr lang="fr-FR" altLang="en-US"/>
          </a:p>
          <a:p>
            <a:pPr algn="just"/>
            <a:r>
              <a:rPr lang="fr-FR" altLang="en-US"/>
              <a:t>MQTT over TLS : Sécurisation de la transmission</a:t>
            </a:r>
            <a:endParaRPr lang="fr-FR" altLang="en-US"/>
          </a:p>
        </p:txBody>
      </p:sp>
      <p:sp>
        <p:nvSpPr>
          <p:cNvPr id="7" name="Flowchart: Alternate Process 6"/>
          <p:cNvSpPr/>
          <p:nvPr/>
        </p:nvSpPr>
        <p:spPr>
          <a:xfrm>
            <a:off x="676275" y="3863340"/>
            <a:ext cx="5066030" cy="1112520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just"/>
            <a:r>
              <a:rPr lang="fr-FR" altLang="en-US"/>
              <a:t>Traitement &amp; Orchestration :</a:t>
            </a:r>
            <a:endParaRPr lang="fr-FR" altLang="en-US"/>
          </a:p>
          <a:p>
            <a:pPr algn="just"/>
            <a:r>
              <a:rPr lang="fr-FR" altLang="en-US"/>
              <a:t>Node-RED : Plateforme de flux pour l’agrégation des données, routage vers les BDs et logique temps réel (alertes, seuils).</a:t>
            </a:r>
            <a:endParaRPr lang="fr-FR" altLang="en-US"/>
          </a:p>
        </p:txBody>
      </p:sp>
      <p:sp>
        <p:nvSpPr>
          <p:cNvPr id="8" name="Flowchart: Alternate Process 7"/>
          <p:cNvSpPr/>
          <p:nvPr/>
        </p:nvSpPr>
        <p:spPr>
          <a:xfrm>
            <a:off x="683895" y="5209540"/>
            <a:ext cx="5067300" cy="1388110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just"/>
            <a:r>
              <a:rPr lang="fr-FR" altLang="en-US"/>
              <a:t>Stockage des données :</a:t>
            </a:r>
            <a:endParaRPr lang="fr-FR" altLang="en-US"/>
          </a:p>
          <a:p>
            <a:pPr algn="just"/>
            <a:r>
              <a:rPr lang="fr-FR" altLang="en-US"/>
              <a:t>InfluxDB : Base de données Time Series pour données IoT chronologiques</a:t>
            </a:r>
            <a:endParaRPr lang="fr-FR" altLang="en-US"/>
          </a:p>
          <a:p>
            <a:pPr algn="just"/>
            <a:r>
              <a:rPr lang="fr-FR" altLang="en-US"/>
              <a:t>PostgreSQL : Base de données relationnelle pour les métadonnées</a:t>
            </a:r>
            <a:endParaRPr lang="fr-FR" altLang="en-US"/>
          </a:p>
        </p:txBody>
      </p:sp>
      <p:sp>
        <p:nvSpPr>
          <p:cNvPr id="9" name="Flowchart: Alternate Process 8"/>
          <p:cNvSpPr/>
          <p:nvPr/>
        </p:nvSpPr>
        <p:spPr>
          <a:xfrm>
            <a:off x="6203950" y="960755"/>
            <a:ext cx="5184775" cy="1238885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just"/>
            <a:r>
              <a:rPr lang="fr-FR" altLang="en-US"/>
              <a:t>Côté application web :</a:t>
            </a:r>
            <a:endParaRPr lang="fr-FR" altLang="en-US"/>
          </a:p>
          <a:p>
            <a:pPr algn="just"/>
            <a:r>
              <a:rPr lang="fr-FR" altLang="en-US"/>
              <a:t>Backend &amp; API : FastAPI, Framework backend;</a:t>
            </a:r>
            <a:endParaRPr lang="fr-FR" altLang="en-US"/>
          </a:p>
          <a:p>
            <a:pPr algn="just"/>
            <a:r>
              <a:rPr lang="fr-FR" altLang="en-US"/>
              <a:t>Frontend : Vite &amp; React JS, Framework Frontend.</a:t>
            </a:r>
            <a:endParaRPr lang="fr-FR" altLang="en-US"/>
          </a:p>
        </p:txBody>
      </p:sp>
      <p:sp>
        <p:nvSpPr>
          <p:cNvPr id="10" name="Flowchart: Alternate Process 9"/>
          <p:cNvSpPr/>
          <p:nvPr/>
        </p:nvSpPr>
        <p:spPr>
          <a:xfrm>
            <a:off x="6203950" y="2466340"/>
            <a:ext cx="5184775" cy="1172210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just"/>
            <a:r>
              <a:rPr lang="fr-FR" altLang="en-US"/>
              <a:t>Surveillance et Sécurité Réseau :</a:t>
            </a:r>
            <a:endParaRPr lang="fr-FR" altLang="en-US"/>
          </a:p>
          <a:p>
            <a:pPr algn="just"/>
            <a:r>
              <a:rPr lang="fr-FR" altLang="en-US"/>
              <a:t>Suricata (IDS/IPS) : outil d’inspection réseau pour détection d’intrusion, analyse trafic, génération d’alertes sécurités.</a:t>
            </a:r>
            <a:endParaRPr lang="fr-FR" altLang="en-US"/>
          </a:p>
        </p:txBody>
      </p:sp>
      <p:sp>
        <p:nvSpPr>
          <p:cNvPr id="11" name="Flowchart: Alternate Process 10"/>
          <p:cNvSpPr/>
          <p:nvPr/>
        </p:nvSpPr>
        <p:spPr>
          <a:xfrm>
            <a:off x="6203950" y="3872230"/>
            <a:ext cx="5183505" cy="1738630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just"/>
            <a:r>
              <a:rPr lang="fr-FR" altLang="en-US"/>
              <a:t>Déploiement &amp; Infrastructure :</a:t>
            </a:r>
            <a:endParaRPr lang="fr-FR" altLang="en-US"/>
          </a:p>
          <a:p>
            <a:pPr algn="just"/>
            <a:r>
              <a:rPr lang="fr-FR" altLang="en-US"/>
              <a:t>Docker &amp; Docker Compose : Conteneurisation de : Mosquitto, Node-RED, InfluxDB, PostgreSQL, FastAPI.</a:t>
            </a:r>
            <a:endParaRPr lang="fr-FR" altLang="en-US"/>
          </a:p>
          <a:p>
            <a:pPr algn="just"/>
            <a:r>
              <a:rPr lang="fr-FR" altLang="en-US"/>
              <a:t>Linux Mint : Environnement d’exécution principal : stable et optimisé réseau.</a:t>
            </a:r>
            <a:endParaRPr lang="fr-F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675640" y="433705"/>
            <a:ext cx="63665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/>
              <a:t>TABLEAU MONTRANT LE PLAN DE TRAVAIL</a:t>
            </a:r>
            <a:endParaRPr lang="fr-FR" altLang="en-US" sz="2000" b="1"/>
          </a:p>
        </p:txBody>
      </p:sp>
      <p:graphicFrame>
        <p:nvGraphicFramePr>
          <p:cNvPr id="5" name="Table 4"/>
          <p:cNvGraphicFramePr/>
          <p:nvPr/>
        </p:nvGraphicFramePr>
        <p:xfrm>
          <a:off x="475615" y="1031240"/>
          <a:ext cx="11241405" cy="5163820"/>
        </p:xfrm>
        <a:graphic>
          <a:graphicData uri="http://schemas.openxmlformats.org/drawingml/2006/table">
            <a:tbl>
              <a:tblPr firstRow="1" firstCol="1">
                <a:tableStyleId>{7DF18680-E054-41AD-8BC1-D1AEF772440D}</a:tableStyleId>
              </a:tblPr>
              <a:tblGrid>
                <a:gridCol w="1847850"/>
                <a:gridCol w="7090410"/>
                <a:gridCol w="2303145"/>
              </a:tblGrid>
              <a:tr h="3886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/>
                        <a:t>PLAN</a:t>
                      </a: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/>
                        <a:t>TÂCHE</a:t>
                      </a: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/>
                        <a:t>DURÉE</a:t>
                      </a:r>
                      <a:endParaRPr lang="fr-FR" altLang="en-US"/>
                    </a:p>
                  </a:txBody>
                  <a:tcPr/>
                </a:tc>
              </a:tr>
              <a:tr h="5657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/>
                        <a:t>PLAN 1</a:t>
                      </a: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/>
                        <a:t>CONCEPTION, ANALYSE DU PROJET</a:t>
                      </a: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/>
                        <a:t>2 JOURS</a:t>
                      </a:r>
                      <a:endParaRPr lang="fr-FR" altLang="en-US"/>
                    </a:p>
                  </a:txBody>
                  <a:tcPr/>
                </a:tc>
              </a:tr>
              <a:tr h="6794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/>
                        <a:t>PLAN 2</a:t>
                      </a: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/>
                        <a:t>CÂBLAGES DES COMPOSANTS + CODAGE</a:t>
                      </a: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/>
                        <a:t>2 JOURS</a:t>
                      </a:r>
                      <a:endParaRPr lang="fr-FR" altLang="en-US"/>
                    </a:p>
                  </a:txBody>
                  <a:tcPr/>
                </a:tc>
              </a:tr>
              <a:tr h="8083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/>
                        <a:t>PLAN 3</a:t>
                      </a: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/>
                        <a:t>INSTALLATION ET CONFIGURATION DES PRÉREQUIS DANS LE SERVEUR</a:t>
                      </a: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/>
                        <a:t>1 JOUR</a:t>
                      </a:r>
                      <a:endParaRPr lang="fr-FR" altLang="en-US"/>
                    </a:p>
                  </a:txBody>
                  <a:tcPr/>
                </a:tc>
              </a:tr>
              <a:tr h="6794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/>
                        <a:t>PLAN 4</a:t>
                      </a: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/>
                        <a:t>METTRE EN PLACE LES SERVICES DANS LE SERVEUR</a:t>
                      </a: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/>
                        <a:t>3 JOURS</a:t>
                      </a:r>
                      <a:endParaRPr lang="fr-FR" altLang="en-US"/>
                    </a:p>
                  </a:txBody>
                  <a:tcPr/>
                </a:tc>
              </a:tr>
              <a:tr h="8083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/>
                        <a:t>PLAN 5</a:t>
                      </a: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/>
                        <a:t>CONCEVOIR ET RÉALISATION DE L’APPLICATION WEB PERSONNALISÉE</a:t>
                      </a: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/>
                        <a:t>3 JOURS</a:t>
                      </a:r>
                      <a:endParaRPr lang="fr-FR" altLang="en-US"/>
                    </a:p>
                  </a:txBody>
                  <a:tcPr/>
                </a:tc>
              </a:tr>
              <a:tr h="5537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/>
                        <a:t>PLAN 6</a:t>
                      </a: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/>
                        <a:t>TEST ET VALIDATION DU PROJET</a:t>
                      </a: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/>
                        <a:t>1 JOUR</a:t>
                      </a:r>
                      <a:endParaRPr lang="fr-FR" altLang="en-US"/>
                    </a:p>
                  </a:txBody>
                  <a:tcPr/>
                </a:tc>
              </a:tr>
              <a:tr h="6800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/>
                        <a:t>PLAN 7</a:t>
                      </a: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/>
                        <a:t>REDACTION DU RAPPORT DE PROJET FIN D’ANNÉE</a:t>
                      </a:r>
                      <a:endParaRPr lang="fr-FR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fr-FR" altLang="en-US"/>
                        <a:t>3 JOURS</a:t>
                      </a:r>
                      <a:endParaRPr lang="fr-FR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675640" y="433705"/>
            <a:ext cx="63665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sz="2000" b="1"/>
              <a:t>PERSPECTIVES DU PROJET</a:t>
            </a:r>
            <a:endParaRPr lang="fr-FR" altLang="en-US" sz="2000" b="1"/>
          </a:p>
        </p:txBody>
      </p:sp>
      <p:sp>
        <p:nvSpPr>
          <p:cNvPr id="5" name="Text Box 4"/>
          <p:cNvSpPr txBox="1"/>
          <p:nvPr/>
        </p:nvSpPr>
        <p:spPr>
          <a:xfrm>
            <a:off x="1111250" y="832485"/>
            <a:ext cx="1052512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fr-FR" altLang="en-US" b="1"/>
              <a:t>Renforcement de la sécurité IoT </a:t>
            </a:r>
            <a:r>
              <a:rPr lang="fr-FR" altLang="en-US"/>
              <a:t>: Mise en oeuvre d’authentification mutuelle et de certificats numériques pour les noeuds IoT ;</a:t>
            </a:r>
            <a:endParaRPr lang="fr-FR" altLang="en-US"/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fr-FR" altLang="en-US" b="1"/>
              <a:t>Migration vers une architecture Cloud </a:t>
            </a:r>
            <a:r>
              <a:rPr lang="fr-FR" altLang="en-US"/>
              <a:t>: Déploiement sur un serveur distant ou une plateforme cloud (AWS, Azure, GCP), pour plus de scalabilité ;</a:t>
            </a:r>
            <a:endParaRPr lang="fr-FR" altLang="en-US"/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fr-FR" altLang="en-US" b="1"/>
              <a:t>Développement d’une application mobile</a:t>
            </a:r>
            <a:r>
              <a:rPr lang="fr-FR" altLang="en-US"/>
              <a:t> : Supervision en temps réel et alertes instantanées sur smartphones ;</a:t>
            </a:r>
            <a:endParaRPr lang="fr-FR" altLang="en-US"/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fr-FR" altLang="en-US" b="1"/>
              <a:t>Interopérabilité et extension du réseau</a:t>
            </a:r>
            <a:r>
              <a:rPr lang="fr-FR" altLang="en-US"/>
              <a:t> : Ajout de nouveaux capteurs et compatibilité avec d’autres protocoles IoT (CoAP, LoRaWAN, ZigBee) ;</a:t>
            </a:r>
            <a:endParaRPr lang="fr-FR" altLang="en-US"/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fr-FR" altLang="en-US" b="1"/>
              <a:t>Intégration avec la Smart City </a:t>
            </a:r>
            <a:r>
              <a:rPr lang="fr-FR" altLang="en-US"/>
              <a:t>: Utilisation de la plateforme comme base pour des projets de ville intelligente (énergie, transport, sécurité).</a:t>
            </a:r>
            <a:endParaRPr lang="fr-F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2290445" y="476885"/>
            <a:ext cx="3162300" cy="904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fr-FR" altLang="en-US"/>
              <a:t>Capteurs/Actinneurs : DHT22, LDR, LED, Buzzer</a:t>
            </a:r>
            <a:endParaRPr lang="fr-FR" altLang="en-US"/>
          </a:p>
        </p:txBody>
      </p:sp>
      <p:sp>
        <p:nvSpPr>
          <p:cNvPr id="5" name="Rounded Rectangle 4"/>
          <p:cNvSpPr/>
          <p:nvPr/>
        </p:nvSpPr>
        <p:spPr>
          <a:xfrm>
            <a:off x="2290445" y="1998345"/>
            <a:ext cx="3178810" cy="920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fr-FR" altLang="en-US"/>
              <a:t>ESP32_1 (IoT Core)</a:t>
            </a:r>
            <a:endParaRPr lang="fr-FR" altLang="en-US"/>
          </a:p>
        </p:txBody>
      </p:sp>
      <p:sp>
        <p:nvSpPr>
          <p:cNvPr id="6" name="Rounded Rectangle 5"/>
          <p:cNvSpPr/>
          <p:nvPr/>
        </p:nvSpPr>
        <p:spPr>
          <a:xfrm>
            <a:off x="6833235" y="1998345"/>
            <a:ext cx="3162935" cy="9207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fr-FR" altLang="en-US"/>
              <a:t>ESP32_2 (IoT Core)</a:t>
            </a:r>
            <a:endParaRPr lang="fr-FR" altLang="en-US"/>
          </a:p>
        </p:txBody>
      </p:sp>
      <p:sp>
        <p:nvSpPr>
          <p:cNvPr id="7" name="Rounded Rectangle 6"/>
          <p:cNvSpPr/>
          <p:nvPr/>
        </p:nvSpPr>
        <p:spPr>
          <a:xfrm>
            <a:off x="2290445" y="4357370"/>
            <a:ext cx="7722235" cy="9207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fr-FR" altLang="en-US"/>
              <a:t>Serveur local / Passerelle</a:t>
            </a:r>
            <a:endParaRPr lang="fr-FR" altLang="en-US"/>
          </a:p>
        </p:txBody>
      </p:sp>
      <p:sp>
        <p:nvSpPr>
          <p:cNvPr id="8" name="Rounded Rectangle 7"/>
          <p:cNvSpPr/>
          <p:nvPr/>
        </p:nvSpPr>
        <p:spPr>
          <a:xfrm>
            <a:off x="6833235" y="476885"/>
            <a:ext cx="3162300" cy="9042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fr-FR" altLang="en-US"/>
              <a:t>Capteurs/Actinneurs : Ultrason, PIR, LED, RFID, Servomoteur</a:t>
            </a:r>
            <a:endParaRPr lang="fr-FR" altLang="en-US"/>
          </a:p>
        </p:txBody>
      </p:sp>
      <p:cxnSp>
        <p:nvCxnSpPr>
          <p:cNvPr id="9" name="Straight Arrow Connector 8"/>
          <p:cNvCxnSpPr>
            <a:stCxn id="4" idx="2"/>
            <a:endCxn id="5" idx="0"/>
          </p:cNvCxnSpPr>
          <p:nvPr/>
        </p:nvCxnSpPr>
        <p:spPr>
          <a:xfrm>
            <a:off x="3871595" y="1381125"/>
            <a:ext cx="8255" cy="6172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8" idx="2"/>
            <a:endCxn id="6" idx="0"/>
          </p:cNvCxnSpPr>
          <p:nvPr/>
        </p:nvCxnSpPr>
        <p:spPr>
          <a:xfrm>
            <a:off x="8414385" y="1381125"/>
            <a:ext cx="635" cy="6172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3386455" y="3453765"/>
            <a:ext cx="5418455" cy="3683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algn="ctr"/>
            <a:r>
              <a:rPr lang="fr-FR" altLang="en-US"/>
              <a:t>WI-FI / Communication</a:t>
            </a:r>
            <a:endParaRPr lang="fr-FR" altLang="en-US"/>
          </a:p>
        </p:txBody>
      </p:sp>
      <p:sp>
        <p:nvSpPr>
          <p:cNvPr id="12" name="Text Box 11"/>
          <p:cNvSpPr txBox="1"/>
          <p:nvPr/>
        </p:nvSpPr>
        <p:spPr>
          <a:xfrm>
            <a:off x="3386455" y="6073140"/>
            <a:ext cx="5418455" cy="3683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algn="ctr"/>
            <a:r>
              <a:rPr lang="fr-FR" altLang="en-US"/>
              <a:t>Interface Web / Tableau de bord</a:t>
            </a:r>
            <a:endParaRPr lang="fr-FR" altLang="en-US"/>
          </a:p>
        </p:txBody>
      </p:sp>
      <p:cxnSp>
        <p:nvCxnSpPr>
          <p:cNvPr id="13" name="Straight Connector 12"/>
          <p:cNvCxnSpPr>
            <a:stCxn id="5" idx="2"/>
          </p:cNvCxnSpPr>
          <p:nvPr/>
        </p:nvCxnSpPr>
        <p:spPr>
          <a:xfrm flipH="1">
            <a:off x="3879215" y="2918460"/>
            <a:ext cx="635" cy="551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2"/>
          </p:cNvCxnSpPr>
          <p:nvPr/>
        </p:nvCxnSpPr>
        <p:spPr>
          <a:xfrm flipH="1">
            <a:off x="8411845" y="2919095"/>
            <a:ext cx="3175" cy="5511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7" idx="0"/>
          </p:cNvCxnSpPr>
          <p:nvPr/>
        </p:nvCxnSpPr>
        <p:spPr>
          <a:xfrm>
            <a:off x="6137275" y="3837940"/>
            <a:ext cx="14605" cy="5194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2" idx="0"/>
          </p:cNvCxnSpPr>
          <p:nvPr/>
        </p:nvCxnSpPr>
        <p:spPr>
          <a:xfrm flipH="1">
            <a:off x="6096000" y="5276215"/>
            <a:ext cx="7620" cy="7969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Flowchart: Alternate Process 3"/>
          <p:cNvSpPr/>
          <p:nvPr/>
        </p:nvSpPr>
        <p:spPr>
          <a:xfrm>
            <a:off x="1136650" y="426085"/>
            <a:ext cx="2625725" cy="754380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fr-FR" altLang="en-US"/>
              <a:t>Capteurs - Couche perception</a:t>
            </a:r>
            <a:endParaRPr lang="fr-FR" altLang="en-US"/>
          </a:p>
        </p:txBody>
      </p:sp>
      <p:sp>
        <p:nvSpPr>
          <p:cNvPr id="5" name="Flowchart: Alternate Process 4"/>
          <p:cNvSpPr/>
          <p:nvPr/>
        </p:nvSpPr>
        <p:spPr>
          <a:xfrm>
            <a:off x="1136650" y="2668270"/>
            <a:ext cx="2625725" cy="669290"/>
          </a:xfrm>
          <a:prstGeom prst="flowChartAlternateProcess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fr-FR" altLang="en-US"/>
              <a:t>ESP32</a:t>
            </a:r>
            <a:endParaRPr lang="fr-FR" altLang="en-US"/>
          </a:p>
        </p:txBody>
      </p:sp>
      <p:sp>
        <p:nvSpPr>
          <p:cNvPr id="6" name="Flowchart: Alternate Process 5"/>
          <p:cNvSpPr/>
          <p:nvPr/>
        </p:nvSpPr>
        <p:spPr>
          <a:xfrm>
            <a:off x="6405880" y="2668270"/>
            <a:ext cx="2625725" cy="669290"/>
          </a:xfrm>
          <a:prstGeom prst="flowChartAlternateProcess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fr-FR" altLang="en-US"/>
              <a:t>Routeur / Box Inernet</a:t>
            </a:r>
            <a:endParaRPr lang="fr-FR" altLang="en-US"/>
          </a:p>
        </p:txBody>
      </p:sp>
      <p:sp>
        <p:nvSpPr>
          <p:cNvPr id="7" name="Flowchart: Alternate Process 6"/>
          <p:cNvSpPr/>
          <p:nvPr/>
        </p:nvSpPr>
        <p:spPr>
          <a:xfrm>
            <a:off x="6421755" y="4624070"/>
            <a:ext cx="2610485" cy="1003300"/>
          </a:xfrm>
          <a:prstGeom prst="flowChartAlternate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fr-FR" altLang="en-US"/>
              <a:t>Broker MQTT/MQTTS</a:t>
            </a:r>
            <a:endParaRPr lang="fr-FR" altLang="en-US"/>
          </a:p>
          <a:p>
            <a:pPr algn="ctr"/>
            <a:r>
              <a:rPr lang="fr-FR" altLang="en-US"/>
              <a:t>[Diffusion des données aux clients abonées]</a:t>
            </a:r>
            <a:endParaRPr lang="fr-FR" altLang="en-US"/>
          </a:p>
        </p:txBody>
      </p:sp>
      <p:sp>
        <p:nvSpPr>
          <p:cNvPr id="8" name="Flowchart: Alternate Process 7"/>
          <p:cNvSpPr/>
          <p:nvPr/>
        </p:nvSpPr>
        <p:spPr>
          <a:xfrm>
            <a:off x="877570" y="4624070"/>
            <a:ext cx="2884805" cy="1388745"/>
          </a:xfrm>
          <a:prstGeom prst="flowChartAlternate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fr-FR" altLang="en-US"/>
              <a:t>Node-RED / API HTTP(S) --- Base de donées / Dashboard</a:t>
            </a:r>
            <a:endParaRPr lang="fr-FR" altLang="en-US"/>
          </a:p>
        </p:txBody>
      </p:sp>
      <p:cxnSp>
        <p:nvCxnSpPr>
          <p:cNvPr id="9" name="Straight Arrow Connector 8"/>
          <p:cNvCxnSpPr>
            <a:stCxn id="4" idx="2"/>
            <a:endCxn id="5" idx="0"/>
          </p:cNvCxnSpPr>
          <p:nvPr/>
        </p:nvCxnSpPr>
        <p:spPr>
          <a:xfrm>
            <a:off x="2449830" y="1180465"/>
            <a:ext cx="0" cy="14878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5" idx="3"/>
            <a:endCxn id="6" idx="1"/>
          </p:cNvCxnSpPr>
          <p:nvPr/>
        </p:nvCxnSpPr>
        <p:spPr>
          <a:xfrm>
            <a:off x="3762375" y="3002915"/>
            <a:ext cx="264350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2"/>
            <a:endCxn id="7" idx="0"/>
          </p:cNvCxnSpPr>
          <p:nvPr/>
        </p:nvCxnSpPr>
        <p:spPr>
          <a:xfrm>
            <a:off x="7719060" y="3337560"/>
            <a:ext cx="8255" cy="128651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1"/>
          </p:cNvCxnSpPr>
          <p:nvPr/>
        </p:nvCxnSpPr>
        <p:spPr>
          <a:xfrm flipH="1" flipV="1">
            <a:off x="3745865" y="5109210"/>
            <a:ext cx="2675890" cy="1651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Text Box 12"/>
          <p:cNvSpPr txBox="1"/>
          <p:nvPr/>
        </p:nvSpPr>
        <p:spPr>
          <a:xfrm>
            <a:off x="2449830" y="1740535"/>
            <a:ext cx="2039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i="1">
                <a:solidFill>
                  <a:schemeClr val="accent1">
                    <a:lumMod val="60000"/>
                    <a:lumOff val="40000"/>
                  </a:schemeClr>
                </a:solidFill>
              </a:rPr>
              <a:t>Données brutes</a:t>
            </a:r>
            <a:endParaRPr lang="fr-FR" altLang="en-US" i="1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4064635" y="3138170"/>
            <a:ext cx="2039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i="1">
                <a:solidFill>
                  <a:schemeClr val="accent1">
                    <a:lumMod val="60000"/>
                    <a:lumOff val="40000"/>
                  </a:schemeClr>
                </a:solidFill>
              </a:rPr>
              <a:t>Wi-Fi IEEE 802.11</a:t>
            </a:r>
            <a:endParaRPr lang="fr-FR" altLang="en-US" i="1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7727315" y="3796665"/>
            <a:ext cx="2039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i="1">
                <a:solidFill>
                  <a:schemeClr val="accent2">
                    <a:lumMod val="60000"/>
                    <a:lumOff val="40000"/>
                  </a:schemeClr>
                </a:solidFill>
              </a:rPr>
              <a:t>TCP/IPc</a:t>
            </a:r>
            <a:endParaRPr lang="fr-FR" altLang="en-US" i="1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4064000" y="5259070"/>
            <a:ext cx="2039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i="1">
                <a:solidFill>
                  <a:schemeClr val="bg2">
                    <a:lumMod val="50000"/>
                  </a:schemeClr>
                </a:solidFill>
              </a:rPr>
              <a:t>Sécurité via TLS</a:t>
            </a:r>
            <a:endParaRPr lang="fr-FR" altLang="en-US" i="1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6282</Words>
  <Application>WPS Presentation</Application>
  <PresentationFormat>宽屏</PresentationFormat>
  <Paragraphs>228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Trebuchet MS</vt:lpstr>
      <vt:lpstr>Microsoft YaHei</vt:lpstr>
      <vt:lpstr>Droid Sans Fallback</vt:lpstr>
      <vt:lpstr>Arial Unicode MS</vt:lpstr>
      <vt:lpstr>SimSun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wps</dc:creator>
  <cp:lastModifiedBy>antonio</cp:lastModifiedBy>
  <cp:revision>20</cp:revision>
  <dcterms:created xsi:type="dcterms:W3CDTF">2025-11-22T06:31:47Z</dcterms:created>
  <dcterms:modified xsi:type="dcterms:W3CDTF">2025-11-22T06:31:47Z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